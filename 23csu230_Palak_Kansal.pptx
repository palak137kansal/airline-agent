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4572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8C9DB"/>
                </a:solidFill>
                <a:latin typeface="Aptos"/>
              </a:rPr>
              <a:t>SKYRESOLVE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6858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8FAFC"/>
                </a:solidFill>
                <a:latin typeface="Aptos"/>
              </a:rPr>
              <a:t>Customer-Facing
Resolution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852928"/>
            <a:ext cx="6217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  <a:latin typeface="Aptos"/>
              </a:rPr>
              <a:t>Assignment 3 — Airline Disruption Resolution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5394960"/>
            <a:ext cx="59436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400" dirty="0">
                <a:solidFill>
                  <a:srgbClr val="94A3B8"/>
                </a:solidFill>
                <a:latin typeface="Aptos"/>
              </a:rPr>
              <a:t>Palak Kansal</a:t>
            </a:r>
            <a:r>
              <a:rPr sz="1400" b="0" dirty="0">
                <a:solidFill>
                  <a:srgbClr val="94A3B8"/>
                </a:solidFill>
                <a:latin typeface="Aptos"/>
              </a:rPr>
              <a:t>  •  </a:t>
            </a:r>
            <a:r>
              <a:rPr lang="en-IN" sz="1400" dirty="0">
                <a:solidFill>
                  <a:srgbClr val="94A3B8"/>
                </a:solidFill>
                <a:latin typeface="Aptos"/>
              </a:rPr>
              <a:t>23csu230</a:t>
            </a:r>
            <a:r>
              <a:rPr sz="1400" b="0" dirty="0">
                <a:solidFill>
                  <a:srgbClr val="94A3B8"/>
                </a:solidFill>
                <a:latin typeface="Aptos"/>
              </a:rPr>
              <a:t>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143000"/>
            <a:ext cx="3566160" cy="4297680"/>
          </a:xfrm>
          <a:prstGeom prst="roundRect">
            <a:avLst/>
          </a:prstGeom>
          <a:solidFill>
            <a:srgbClr val="11223D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0" y="1600200"/>
            <a:ext cx="2743200" cy="777240"/>
          </a:xfrm>
          <a:prstGeom prst="roundRect">
            <a:avLst/>
          </a:prstGeom>
          <a:solidFill>
            <a:srgbClr val="192B47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394192" y="1810512"/>
            <a:ext cx="438912" cy="347472"/>
          </a:xfrm>
          <a:prstGeom prst="roundRect">
            <a:avLst/>
          </a:prstGeom>
          <a:solidFill>
            <a:srgbClr val="26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94192" y="1819656"/>
            <a:ext cx="43891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9408" y="1746504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UNDERSTAND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770632"/>
            <a:ext cx="2743200" cy="777240"/>
          </a:xfrm>
          <a:prstGeom prst="roundRect">
            <a:avLst/>
          </a:prstGeom>
          <a:solidFill>
            <a:srgbClr val="192B47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394192" y="2980944"/>
            <a:ext cx="438912" cy="34747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94192" y="2990087"/>
            <a:ext cx="43891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79408" y="2916936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DECIDE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941064"/>
            <a:ext cx="2743200" cy="777240"/>
          </a:xfrm>
          <a:prstGeom prst="roundRect">
            <a:avLst/>
          </a:prstGeom>
          <a:solidFill>
            <a:srgbClr val="192B47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94192" y="4151376"/>
            <a:ext cx="438912" cy="347472"/>
          </a:xfrm>
          <a:prstGeom prst="roundRect">
            <a:avLst/>
          </a:prstGeom>
          <a:solidFill>
            <a:srgbClr val="38C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94192" y="4160520"/>
            <a:ext cx="438912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9408" y="4087368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RESPOND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601200" y="2423160"/>
            <a:ext cx="0" cy="274320"/>
          </a:xfrm>
          <a:prstGeom prst="line">
            <a:avLst/>
          </a:prstGeom>
          <a:ln w="25400">
            <a:solidFill>
              <a:srgbClr val="38C9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01200" y="3593592"/>
            <a:ext cx="0" cy="274320"/>
          </a:xfrm>
          <a:prstGeom prst="line">
            <a:avLst/>
          </a:prstGeom>
          <a:ln w="25400">
            <a:solidFill>
              <a:srgbClr val="38C9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Why an airline resolution agent needs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8C9DB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6629400" cy="4526280"/>
          </a:xfrm>
          <a:prstGeom prst="roundRect">
            <a:avLst/>
          </a:prstGeom>
          <a:solidFill>
            <a:srgbClr val="142139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60807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Airlines need a support agent that can resolve customer disruption requests (cancellations, delays, refunds) without a human for every case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Key risk: a free-form chatbot could promise things outside policy — need guardrails, not just good phrasing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Goal: build an agent that's grounded in real booking data and cannot say yes to anything the policy doesn't allow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508760"/>
            <a:ext cx="1828800" cy="347472"/>
          </a:xfrm>
          <a:prstGeom prst="roundRect">
            <a:avLst/>
          </a:prstGeom>
          <a:solidFill>
            <a:srgbClr val="26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6679" y="1517904"/>
            <a:ext cx="1828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CORE REQUIREMENT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148840"/>
            <a:ext cx="356616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F8FAFC"/>
                </a:solidFill>
                <a:latin typeface="Aptos"/>
              </a:rPr>
              <a:t>Never let the
conversation itself
become the policy.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Design 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Separate language understanding, entitlement decisions and phrasing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8C9DB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337560" cy="3337560"/>
          </a:xfrm>
          <a:prstGeom prst="roundRect">
            <a:avLst/>
          </a:prstGeom>
          <a:solidFill>
            <a:srgbClr val="142139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566928" cy="347472"/>
          </a:xfrm>
          <a:prstGeom prst="roundRect">
            <a:avLst/>
          </a:prstGeom>
          <a:solidFill>
            <a:srgbClr val="26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83663"/>
            <a:ext cx="5669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12386"/>
            <a:ext cx="278892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Core decision: separate "understanding the customer" → "deciding what they're owed" → "saying it out loud"</a:t>
            </a:r>
            <a:endParaRPr sz="1450" b="0" dirty="0">
              <a:solidFill>
                <a:schemeClr val="bg1"/>
              </a:solidFill>
              <a:latin typeface="Aptos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4023360" y="3246120"/>
            <a:ext cx="365760" cy="0"/>
          </a:xfrm>
          <a:prstGeom prst="line">
            <a:avLst/>
          </a:prstGeom>
          <a:ln w="25400">
            <a:solidFill>
              <a:srgbClr val="38C9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80560" y="1600200"/>
            <a:ext cx="3337560" cy="3337560"/>
          </a:xfrm>
          <a:prstGeom prst="roundRect">
            <a:avLst/>
          </a:prstGeom>
          <a:solidFill>
            <a:srgbClr val="142139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709160" y="1874519"/>
            <a:ext cx="566928" cy="34747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60" y="1883663"/>
            <a:ext cx="5669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4040" y="2612386"/>
            <a:ext cx="2788920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Only the middle stage has authority to grant/deny anything — and it's pure deterministic code, not an LLM</a:t>
            </a:r>
            <a:endParaRPr sz="1450" b="0" dirty="0">
              <a:solidFill>
                <a:schemeClr val="bg1"/>
              </a:solidFill>
              <a:latin typeface="Aptos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7818120" y="3246120"/>
            <a:ext cx="365759" cy="0"/>
          </a:xfrm>
          <a:prstGeom prst="line">
            <a:avLst/>
          </a:prstGeom>
          <a:ln w="25400">
            <a:solidFill>
              <a:srgbClr val="38C9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75320" y="1600200"/>
            <a:ext cx="3337560" cy="3337560"/>
          </a:xfrm>
          <a:prstGeom prst="roundRect">
            <a:avLst/>
          </a:prstGeom>
          <a:solidFill>
            <a:srgbClr val="142139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503920" y="1874519"/>
            <a:ext cx="566928" cy="347472"/>
          </a:xfrm>
          <a:prstGeom prst="roundRect">
            <a:avLst/>
          </a:prstGeom>
          <a:solidFill>
            <a:srgbClr val="38C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0" y="1883663"/>
            <a:ext cx="56692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3248" y="2608004"/>
            <a:ext cx="2788920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Whatever the language-understanding stage gets wrong, it can only mis-tag a request — it can never itself grant something outside policy</a:t>
            </a:r>
            <a:endParaRPr sz="1450" b="0" dirty="0">
              <a:solidFill>
                <a:schemeClr val="bg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Architecture — 3-Stage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The decision-making core is deterministic and isolated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8C9DB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6720840" cy="1051560"/>
          </a:xfrm>
          <a:prstGeom prst="roundRect">
            <a:avLst/>
          </a:prstGeom>
          <a:solidFill>
            <a:srgbClr val="142139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1746504"/>
            <a:ext cx="457200" cy="347472"/>
          </a:xfrm>
          <a:prstGeom prst="roundRect">
            <a:avLst/>
          </a:prstGeom>
          <a:solidFill>
            <a:srgbClr val="26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55648"/>
            <a:ext cx="457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581912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STAGE 1 — INTENT NLU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572768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2E8F0"/>
                </a:solidFill>
                <a:latin typeface="Aptos"/>
              </a:rPr>
              <a:t>Pattern matching → fixed tags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947672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rebook • refund • hotel_full_night • legal_threat • fare_change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23360" y="2478024"/>
            <a:ext cx="0" cy="237744"/>
          </a:xfrm>
          <a:prstGeom prst="line">
            <a:avLst/>
          </a:prstGeom>
          <a:ln w="25400">
            <a:solidFill>
              <a:srgbClr val="38C9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" y="2788920"/>
            <a:ext cx="6720840" cy="1051560"/>
          </a:xfrm>
          <a:prstGeom prst="roundRect">
            <a:avLst/>
          </a:prstGeom>
          <a:solidFill>
            <a:srgbClr val="142139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0120" y="3118103"/>
            <a:ext cx="457200" cy="34747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127247"/>
            <a:ext cx="457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953512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STAGE 2 — RULES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1940" y="2980944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E2E8F0"/>
                </a:solidFill>
                <a:latin typeface="Aptos"/>
              </a:rPr>
              <a:t>Booking lookup → ALLOW / DENY / 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319272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Pure code • no LLM • exact policy reason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23360" y="3849624"/>
            <a:ext cx="0" cy="237744"/>
          </a:xfrm>
          <a:prstGeom prst="line">
            <a:avLst/>
          </a:prstGeom>
          <a:ln w="25400">
            <a:solidFill>
              <a:srgbClr val="38C9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1520" y="4160520"/>
            <a:ext cx="6720840" cy="1051560"/>
          </a:xfrm>
          <a:prstGeom prst="roundRect">
            <a:avLst/>
          </a:prstGeom>
          <a:solidFill>
            <a:srgbClr val="142139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60120" y="4489704"/>
            <a:ext cx="457200" cy="347472"/>
          </a:xfrm>
          <a:prstGeom prst="roundRect">
            <a:avLst/>
          </a:prstGeom>
          <a:solidFill>
            <a:srgbClr val="38C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4498848"/>
            <a:ext cx="4572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325112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FAFC"/>
                </a:solidFill>
                <a:latin typeface="Aptos"/>
              </a:rPr>
              <a:t>STAGE 3 — REPLY PHRASING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474366"/>
            <a:ext cx="3246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E2E8F0"/>
                </a:solidFill>
                <a:latin typeface="Aptos"/>
              </a:rPr>
              <a:t>Decision → constrained template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4690872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No generative step • no invented promises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1417320"/>
            <a:ext cx="3566160" cy="3794760"/>
          </a:xfrm>
          <a:prstGeom prst="roundRect">
            <a:avLst/>
          </a:prstGeom>
          <a:solidFill>
            <a:srgbClr val="101F36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8160" y="17373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8C9DB"/>
                </a:solidFill>
                <a:latin typeface="Aptos"/>
              </a:rPr>
              <a:t>DATA SOURCE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14884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knowledge_base.json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743200"/>
            <a:ext cx="2743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E2E8F0"/>
                </a:solidFill>
                <a:latin typeface="Aptos"/>
              </a:defRPr>
            </a:pPr>
            <a:r>
              <a:t>•  Customer profiles</a:t>
            </a:r>
          </a:p>
          <a:p>
            <a:pPr>
              <a:spcAft>
                <a:spcPts val="900"/>
              </a:spcAft>
              <a:defRPr sz="1300">
                <a:solidFill>
                  <a:srgbClr val="E2E8F0"/>
                </a:solidFill>
                <a:latin typeface="Aptos"/>
              </a:defRPr>
            </a:pPr>
            <a:r>
              <a:t>•  Booking / transaction data</a:t>
            </a:r>
          </a:p>
          <a:p>
            <a:pPr>
              <a:spcAft>
                <a:spcPts val="900"/>
              </a:spcAft>
              <a:defRPr sz="1300">
                <a:solidFill>
                  <a:srgbClr val="E2E8F0"/>
                </a:solidFill>
                <a:latin typeface="Aptos"/>
              </a:defRPr>
            </a:pPr>
            <a:r>
              <a:t>•  Service rules</a:t>
            </a:r>
          </a:p>
          <a:p>
            <a:pPr>
              <a:spcAft>
                <a:spcPts val="900"/>
              </a:spcAft>
              <a:defRPr sz="1300">
                <a:solidFill>
                  <a:srgbClr val="E2E8F0"/>
                </a:solidFill>
                <a:latin typeface="Aptos"/>
              </a:defRPr>
            </a:pPr>
            <a:r>
              <a:t>•  Allowed + prohibited actions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Three-Way Decision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A deliberate distinction between explainable denials and escalations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8C9DB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337560" cy="2331720"/>
          </a:xfrm>
          <a:prstGeom prst="roundRect">
            <a:avLst/>
          </a:prstGeom>
          <a:solidFill>
            <a:srgbClr val="142139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1965960" cy="34747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83663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ALLOW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27889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request is within policy, action taken directly</a:t>
            </a:r>
            <a:endParaRPr sz="14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480560" y="1600200"/>
            <a:ext cx="3337560" cy="2331720"/>
          </a:xfrm>
          <a:prstGeom prst="roundRect">
            <a:avLst/>
          </a:prstGeom>
          <a:solidFill>
            <a:srgbClr val="142139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709160" y="1874519"/>
            <a:ext cx="1965960" cy="34747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1883663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DENY_WITH_POLICY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514600"/>
            <a:ext cx="278892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A "no" the agent explains itself (e.g., delay under 5h doesn't qualify for hotel)</a:t>
            </a:r>
            <a:endParaRPr sz="14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75320" y="1600200"/>
            <a:ext cx="3337560" cy="2331720"/>
          </a:xfrm>
          <a:prstGeom prst="roundRect">
            <a:avLst/>
          </a:prstGeom>
          <a:solidFill>
            <a:srgbClr val="142139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503920" y="1874519"/>
            <a:ext cx="1965960" cy="347472"/>
          </a:xfrm>
          <a:prstGeom prst="round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1883663"/>
            <a:ext cx="19659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ESCALATE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514600"/>
            <a:ext cx="278892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a "no" reserved for the Prohibited list or a stated numeric threshold being crossed (e.g., fare difference above ₹1,500)</a:t>
            </a:r>
            <a:endParaRPr sz="14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371600" y="4343400"/>
            <a:ext cx="9418320" cy="960120"/>
          </a:xfrm>
          <a:prstGeom prst="roundRect">
            <a:avLst/>
          </a:prstGeom>
          <a:solidFill>
            <a:srgbClr val="101F36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91640" y="459028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8C9DB"/>
                </a:solidFill>
                <a:latin typeface="Aptos"/>
              </a:rPr>
              <a:t>FAIL-SAFE DEFAULT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535424"/>
            <a:ext cx="67208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</a:rPr>
              <a:t>any unrecognized intent tag escalates automatically — system defaults to "get a human," never "say yes"</a:t>
            </a:r>
            <a:endParaRPr sz="1450" b="1" dirty="0">
              <a:solidFill>
                <a:schemeClr val="bg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Privacy-First Customer Identification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No customer picker or exposed customer list in the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8C9DB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657600" cy="3566160"/>
          </a:xfrm>
          <a:prstGeom prst="roundRect">
            <a:avLst/>
          </a:prstGeom>
          <a:solidFill>
            <a:srgbClr val="142139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8C9DB"/>
                </a:solidFill>
                <a:latin typeface="Aptos"/>
              </a:rPr>
              <a:t>CUSTOMER MESSAGE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3172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  <a:latin typeface="Aptos"/>
              </a:rPr>
              <a:t>“Hi, I'm Priya.
My flight was cancelled.”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840480"/>
            <a:ext cx="1691640" cy="347472"/>
          </a:xfrm>
          <a:prstGeom prst="roundRect">
            <a:avLst/>
          </a:prstGeom>
          <a:solidFill>
            <a:srgbClr val="26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3849624"/>
            <a:ext cx="16916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NAME IN MESSAGE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89120" y="3291840"/>
            <a:ext cx="1097280" cy="0"/>
          </a:xfrm>
          <a:prstGeom prst="line">
            <a:avLst/>
          </a:prstGeom>
          <a:ln w="25400">
            <a:solidFill>
              <a:srgbClr val="38C9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577840" y="1554480"/>
            <a:ext cx="2651760" cy="3566160"/>
          </a:xfrm>
          <a:prstGeom prst="roundRect">
            <a:avLst/>
          </a:prstGeom>
          <a:solidFill>
            <a:srgbClr val="142139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97880" y="18288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8C9DB"/>
                </a:solidFill>
                <a:latin typeface="Aptos"/>
              </a:rPr>
              <a:t>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80" y="233172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Knowledge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3063240"/>
            <a:ext cx="178308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Agent identifies the customer from their name typed in the message.</a:t>
            </a:r>
            <a:endParaRPr sz="1350" b="0" dirty="0">
              <a:solidFill>
                <a:schemeClr val="bg1"/>
              </a:solidFill>
              <a:latin typeface="Aptos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8275320" y="3291840"/>
            <a:ext cx="1051560" cy="0"/>
          </a:xfrm>
          <a:prstGeom prst="line">
            <a:avLst/>
          </a:prstGeom>
          <a:ln w="25400">
            <a:solidFill>
              <a:srgbClr val="38C9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418320" y="1554480"/>
            <a:ext cx="2057400" cy="3566160"/>
          </a:xfrm>
          <a:prstGeom prst="roundRect">
            <a:avLst/>
          </a:prstGeom>
          <a:solidFill>
            <a:srgbClr val="142139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38360" y="1828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8C9DB"/>
                </a:solidFill>
                <a:latin typeface="Aptos"/>
              </a:rPr>
              <a:t>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38360" y="233172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ECC71"/>
                </a:solidFill>
                <a:latin typeface="Aptos"/>
              </a:rPr>
              <a:t>Proceed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38360" y="3063240"/>
            <a:ext cx="1371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2E8F0"/>
                </a:solidFill>
                <a:latin typeface="Aptos"/>
              </a:rPr>
              <a:t>If no name is recognized:
ask the customer to identify themselves.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Scenario 1 — Priya Nair (Gold)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Cancellation → refund allowed; unsupported upgrade → escalation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8C9DB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4709160" cy="4526280"/>
          </a:xfrm>
          <a:prstGeom prst="roundRect">
            <a:avLst/>
          </a:prstGeom>
          <a:solidFill>
            <a:srgbClr val="142139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6112" y="1783080"/>
            <a:ext cx="1051560" cy="34747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792224"/>
            <a:ext cx="10515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REFUND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8600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8FAFC"/>
                </a:solidFill>
                <a:latin typeface="Aptos"/>
              </a:rPr>
              <a:t>Flight SK-204 cancelled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78892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Aptos"/>
              </a:rPr>
              <a:t>“I want a full refund.”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3383280"/>
            <a:ext cx="1143000" cy="34747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3392424"/>
            <a:ext cx="1143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ALLOW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931920"/>
            <a:ext cx="3840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Aptos"/>
              </a:rPr>
              <a:t>Refund processed to the original payment method within 7 business days.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79" y="260062"/>
            <a:ext cx="6316243" cy="6307886"/>
          </a:xfrm>
          <a:prstGeom prst="roundRect">
            <a:avLst/>
          </a:prstGeom>
          <a:solidFill>
            <a:srgbClr val="142139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943600" y="534382"/>
            <a:ext cx="1508760" cy="347472"/>
          </a:xfrm>
          <a:prstGeom prst="roundRect">
            <a:avLst/>
          </a:prstGeom>
          <a:solidFill>
            <a:srgbClr val="26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0" y="543526"/>
            <a:ext cx="15087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MID-CONVERSATION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083022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“I also want a free business-class upgrade for the trouble.”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1885334"/>
            <a:ext cx="1325880" cy="347472"/>
          </a:xfrm>
          <a:prstGeom prst="round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0" y="1894478"/>
            <a:ext cx="1325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ESCALATE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342042"/>
            <a:ext cx="4709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E2E8F0"/>
                </a:solidFill>
                <a:latin typeface="Aptos"/>
              </a:rPr>
              <a:t>Not on the allowed action list → routed for human handling.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2A6E514-B553-6002-2738-8D3756A10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172" y="3027842"/>
            <a:ext cx="5220456" cy="31241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Scenario 2 — Arvind Kulkarni (Silver)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4-hour delay → hotel denied by threshold; alternatives offered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8C9DB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4572000" cy="4526280"/>
          </a:xfrm>
          <a:prstGeom prst="roundRect">
            <a:avLst/>
          </a:prstGeom>
          <a:solidFill>
            <a:srgbClr val="142139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78308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8FAFC"/>
                </a:solidFill>
                <a:latin typeface="Aptos"/>
              </a:rPr>
              <a:t>Flight SK-118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28600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8FAFC"/>
                </a:solidFill>
                <a:latin typeface="Aptos"/>
              </a:rPr>
              <a:t>Delay: 4 hours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3063240"/>
            <a:ext cx="1554480" cy="347472"/>
          </a:xfrm>
          <a:prstGeom prst="roundRect">
            <a:avLst/>
          </a:prstGeom>
          <a:solidFill>
            <a:srgbClr val="26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3072384"/>
            <a:ext cx="1554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HOTEL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611880"/>
            <a:ext cx="3566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2E8F0"/>
                </a:solidFill>
                <a:latin typeface="Aptos"/>
              </a:rPr>
              <a:t>“Can I get a hotel?”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4251960"/>
            <a:ext cx="1828800" cy="34747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4261104"/>
            <a:ext cx="1828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DENY_WITH_POLICY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800600"/>
            <a:ext cx="3840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E2E8F0"/>
                </a:solidFill>
                <a:latin typeface="Aptos"/>
              </a:rPr>
              <a:t>Under the 5-hour threshold, hotel accommodation does not qualify.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58581" y="845573"/>
            <a:ext cx="6597445" cy="5879691"/>
          </a:xfrm>
          <a:prstGeom prst="roundRect">
            <a:avLst/>
          </a:prstGeom>
          <a:solidFill>
            <a:srgbClr val="142139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85098" y="104221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dirty="0">
                <a:solidFill>
                  <a:srgbClr val="38C9DB"/>
                </a:solidFill>
                <a:latin typeface="Aptos"/>
              </a:rPr>
              <a:t>WHAT THE AGENT CAN OFFER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85098" y="1400606"/>
            <a:ext cx="4297680" cy="658368"/>
          </a:xfrm>
          <a:prstGeom prst="roundRect">
            <a:avLst/>
          </a:prstGeom>
          <a:solidFill>
            <a:srgbClr val="192B47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067978" y="1556054"/>
            <a:ext cx="411480" cy="34747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67978" y="1565197"/>
            <a:ext cx="411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2338" y="151947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Meal voucher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85098" y="2360726"/>
            <a:ext cx="4297680" cy="658368"/>
          </a:xfrm>
          <a:prstGeom prst="roundRect">
            <a:avLst/>
          </a:prstGeom>
          <a:solidFill>
            <a:srgbClr val="192B47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067978" y="2516174"/>
            <a:ext cx="411480" cy="34747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67978" y="2525318"/>
            <a:ext cx="411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2338" y="2479598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8FAFC"/>
                </a:solidFill>
                <a:latin typeface="Aptos"/>
              </a:rPr>
              <a:t>Lounge access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EB04724-7FCD-318E-578B-BA16657E5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2" y="3236976"/>
            <a:ext cx="5144752" cy="32881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7621" y="226145"/>
            <a:ext cx="5835938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F8FAFC"/>
                </a:solidFill>
                <a:latin typeface="Aptos"/>
              </a:rPr>
              <a:t>Scenario 3 — Meher Kaur (Platinum)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Full-night hotel request + ₹2,000 fare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8C9DB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4699995" cy="4526280"/>
          </a:xfrm>
          <a:prstGeom prst="roundRect">
            <a:avLst/>
          </a:prstGeom>
          <a:solidFill>
            <a:srgbClr val="142139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6112" y="1783080"/>
            <a:ext cx="914400" cy="347472"/>
          </a:xfrm>
          <a:prstGeom prst="roundRect">
            <a:avLst/>
          </a:prstGeom>
          <a:solidFill>
            <a:srgbClr val="26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792224"/>
            <a:ext cx="914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HOTEL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8600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8FAFC"/>
                </a:solidFill>
                <a:latin typeface="Aptos"/>
              </a:rPr>
              <a:t>Flight SK-305 delayed 6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78892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Aptos"/>
              </a:rPr>
              <a:t>Requests a full night's stay.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3383280"/>
            <a:ext cx="1828800" cy="34747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3392424"/>
            <a:ext cx="18288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DENY_WITH_POLICY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931920"/>
            <a:ext cx="4251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  <a:latin typeface="Aptos"/>
              </a:rPr>
              <a:t>Policy provides delayed-hours coverage, not a full-night stay.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96107" y="319054"/>
            <a:ext cx="6359919" cy="6298055"/>
          </a:xfrm>
          <a:prstGeom prst="roundRect">
            <a:avLst/>
          </a:prstGeom>
          <a:solidFill>
            <a:srgbClr val="142139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22143" y="819518"/>
            <a:ext cx="1280160" cy="347472"/>
          </a:xfrm>
          <a:prstGeom prst="roundRect">
            <a:avLst/>
          </a:prstGeom>
          <a:solidFill>
            <a:srgbClr val="26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22143" y="828662"/>
            <a:ext cx="1280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dirty="0">
                <a:solidFill>
                  <a:srgbClr val="F8FAFC"/>
                </a:solidFill>
                <a:latin typeface="Aptos"/>
              </a:rPr>
              <a:t>FARE CHANGE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2143" y="1322438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8FAFC"/>
                </a:solidFill>
                <a:latin typeface="Aptos"/>
              </a:rPr>
              <a:t>Alternate flight difference: ₹2,000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2143" y="1825358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  <a:latin typeface="Aptos"/>
              </a:rPr>
              <a:t>Agent waiver limit: ₹1,500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2143" y="2327787"/>
            <a:ext cx="1325880" cy="347472"/>
          </a:xfrm>
          <a:prstGeom prst="round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2143" y="2336931"/>
            <a:ext cx="1325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ESCALATE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2143" y="2787936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rgbClr val="E2E8F0"/>
                </a:solidFill>
                <a:latin typeface="Aptos"/>
              </a:rPr>
              <a:t>Threshold exceeded → human review.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0CDE83B-B001-A424-7522-1F2209A2E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7" y="3730752"/>
            <a:ext cx="5437873" cy="236894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Key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What was modeled for the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8C9DB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19" y="1508760"/>
            <a:ext cx="5875757" cy="1600200"/>
          </a:xfrm>
          <a:prstGeom prst="roundRect">
            <a:avLst/>
          </a:prstGeom>
          <a:solidFill>
            <a:srgbClr val="142139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1764792"/>
            <a:ext cx="502920" cy="347472"/>
          </a:xfrm>
          <a:prstGeom prst="roundRect">
            <a:avLst/>
          </a:prstGeom>
          <a:solidFill>
            <a:srgbClr val="26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73936"/>
            <a:ext cx="5029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709928"/>
            <a:ext cx="3794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Data-pack conversations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2194560"/>
            <a:ext cx="4548403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</a:rPr>
              <a:t>Sample conversations in the data pack were used only to calibrate tone, never as a source of policy</a:t>
            </a:r>
            <a:endParaRPr sz="125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5875756" cy="1600200"/>
          </a:xfrm>
          <a:prstGeom prst="roundRect">
            <a:avLst/>
          </a:prstGeom>
          <a:solidFill>
            <a:srgbClr val="142139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60120" y="3822191"/>
            <a:ext cx="502920" cy="347472"/>
          </a:xfrm>
          <a:prstGeom prst="roundRect">
            <a:avLst/>
          </a:prstGeom>
          <a:solidFill>
            <a:srgbClr val="26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3850681"/>
            <a:ext cx="50292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 dirty="0">
                <a:solidFill>
                  <a:srgbClr val="F8FAFC"/>
                </a:solidFill>
                <a:latin typeface="Aptos"/>
              </a:rPr>
              <a:t>0</a:t>
            </a:r>
            <a:r>
              <a:rPr lang="en-IN" sz="1050" b="1" dirty="0">
                <a:solidFill>
                  <a:srgbClr val="F8FAFC"/>
                </a:solidFill>
                <a:latin typeface="Aptos"/>
              </a:rPr>
              <a:t>2</a:t>
            </a:r>
            <a:endParaRPr sz="1050" b="1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45920" y="3767328"/>
            <a:ext cx="3794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One live disruption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251960"/>
            <a:ext cx="4450080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Aptos" panose="020B0004020202020204" pitchFamily="34" charset="0"/>
              </a:rPr>
              <a:t>Only one live/disrupted booking per customer is modelled; return/unaffected legs stored but not part of the disruption flow</a:t>
            </a:r>
            <a:endParaRPr sz="1250" b="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Limitations &amp; Honest Tradeoffs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Why the prototype is intentionally simple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8C9DB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212080" cy="4526280"/>
          </a:xfrm>
          <a:prstGeom prst="roundRect">
            <a:avLst/>
          </a:prstGeom>
          <a:solidFill>
            <a:srgbClr val="142139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1783080"/>
            <a:ext cx="1188720" cy="34747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92224"/>
            <a:ext cx="1188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LIMITATION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8FAFC"/>
                </a:solidFill>
                <a:latin typeface="Aptos"/>
              </a:rPr>
              <a:t>Rule-based NLU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26080"/>
            <a:ext cx="4434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E2E8F0"/>
                </a:solidFill>
                <a:latin typeface="Aptos"/>
              </a:defRPr>
            </a:pPr>
            <a:r>
              <a:t>•  Pattern matching only catches phrasings the rules were written for.</a:t>
            </a:r>
          </a:p>
          <a:p>
            <a:pPr>
              <a:spcAft>
                <a:spcPts val="900"/>
              </a:spcAft>
              <a:defRPr sz="1400">
                <a:solidFill>
                  <a:srgbClr val="E2E8F0"/>
                </a:solidFill>
                <a:latin typeface="Aptos"/>
              </a:defRPr>
            </a:pPr>
            <a:r>
              <a:t>•  Unexpected wording may fall through to general_inquiry.</a:t>
            </a:r>
          </a:p>
          <a:p>
            <a:pPr>
              <a:spcAft>
                <a:spcPts val="900"/>
              </a:spcAft>
              <a:defRPr sz="1400">
                <a:solidFill>
                  <a:srgbClr val="E2E8F0"/>
                </a:solidFill>
                <a:latin typeface="Aptos"/>
              </a:defRPr>
            </a:pPr>
            <a:r>
              <a:t>•  This is an accepted tradeoff for a free, zero-dependency prototype.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5303520" cy="4526280"/>
          </a:xfrm>
          <a:prstGeom prst="roundRect">
            <a:avLst/>
          </a:prstGeom>
          <a:solidFill>
            <a:srgbClr val="142139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623501" y="2137042"/>
            <a:ext cx="1325880" cy="347472"/>
          </a:xfrm>
          <a:prstGeom prst="roundRect">
            <a:avLst/>
          </a:prstGeom>
          <a:solidFill>
            <a:srgbClr val="38C9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5010" y="2146185"/>
            <a:ext cx="13258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UPGRADE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611719"/>
            <a:ext cx="43434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Aptos" panose="020B0004020202020204" pitchFamily="34" charset="0"/>
              </a:rPr>
              <a:t>An optional LLM-backed version of Stage 1/3 is included, swappable without touching the rules engine</a:t>
            </a:r>
            <a:endParaRPr sz="1500" b="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8FAFC"/>
                </a:solidFill>
                <a:latin typeface="Aptos"/>
              </a:rPr>
              <a:t>Tech Stack &amp; AI Tools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5156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94A3B8"/>
                </a:solidFill>
                <a:latin typeface="Aptos"/>
              </a:rPr>
              <a:t>Zero-cost default runtime + optional LLM upgrade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41148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38C9DB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77673"/>
            <a:ext cx="3429000" cy="1143000"/>
          </a:xfrm>
          <a:prstGeom prst="roundRect">
            <a:avLst/>
          </a:prstGeom>
          <a:solidFill>
            <a:srgbClr val="142139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978841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8C9DB"/>
                </a:solidFill>
                <a:latin typeface="Aptos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08025"/>
            <a:ext cx="2880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Node.js + Express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777673"/>
            <a:ext cx="3429000" cy="1143000"/>
          </a:xfrm>
          <a:prstGeom prst="roundRect">
            <a:avLst/>
          </a:prstGeom>
          <a:solidFill>
            <a:srgbClr val="142139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978841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8C9DB"/>
                </a:solidFill>
                <a:latin typeface="Aptos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308025"/>
            <a:ext cx="2880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Vanilla JS / HTML / CSS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5464" y="3738717"/>
            <a:ext cx="3429000" cy="1143000"/>
          </a:xfrm>
          <a:prstGeom prst="roundRect">
            <a:avLst/>
          </a:prstGeom>
          <a:solidFill>
            <a:srgbClr val="142139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4064" y="3939885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8C9DB"/>
                </a:solidFill>
                <a:latin typeface="Aptos"/>
              </a:rPr>
              <a:t>DEFAULT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4064" y="4269069"/>
            <a:ext cx="2880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Rule-based NLU + templates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45944" y="3738717"/>
            <a:ext cx="3429000" cy="1143000"/>
          </a:xfrm>
          <a:prstGeom prst="roundRect">
            <a:avLst/>
          </a:prstGeom>
          <a:solidFill>
            <a:srgbClr val="142139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74544" y="3939885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8C9DB"/>
                </a:solidFill>
                <a:latin typeface="Aptos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4544" y="4269069"/>
            <a:ext cx="2880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8FAFC"/>
                </a:solidFill>
                <a:latin typeface="Aptos"/>
              </a:rPr>
              <a:t>knowledge_base.json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1463040"/>
            <a:ext cx="3017520" cy="4160520"/>
          </a:xfrm>
          <a:prstGeom prst="roundRect">
            <a:avLst/>
          </a:prstGeom>
          <a:solidFill>
            <a:srgbClr val="11223D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732520" y="17830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8C9DB"/>
                </a:solidFill>
                <a:latin typeface="Aptos"/>
              </a:rPr>
              <a:t>AI DESIGN PARTNER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286000"/>
            <a:ext cx="22860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8FAFC"/>
                </a:solidFill>
                <a:latin typeface="Aptos"/>
              </a:rPr>
              <a:t>Claude
(Anthropic)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3246120"/>
            <a:ext cx="2240280" cy="892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E2E8F0"/>
                </a:solidFill>
                <a:latin typeface="Aptos"/>
              </a:rPr>
              <a:t>Used for architecture, rules-engine iteration, NLU patterns, and project documentation.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4754880"/>
            <a:ext cx="2057400" cy="34747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32520" y="4764024"/>
            <a:ext cx="2057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NO API KEY BY DEFAULT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8C9DB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69494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500" b="1">
                <a:solidFill>
                  <a:srgbClr val="F8FAFC"/>
                </a:solidFill>
                <a:latin typeface="Aptos"/>
              </a:rPr>
              <a:t>A safer support agent
starts with the policy gate.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71800"/>
            <a:ext cx="649224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ptos" panose="020B0004020202020204" pitchFamily="34" charset="0"/>
              </a:rPr>
              <a:t>Built a support agent where the risky decision-making is small, readable, deterministic code — not a black box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ptos" panose="020B0004020202020204" pitchFamily="34" charset="0"/>
              </a:rPr>
              <a:t>Demonstrated correct behaviour across all 3 required scenarios: allow, deny-with-explanation, and escalate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1"/>
                </a:solidFill>
                <a:latin typeface="Aptos" panose="020B0004020202020204" pitchFamily="34" charset="0"/>
              </a:rPr>
              <a:t>Runnable in one command, no cost, no signup — ready for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143000"/>
            <a:ext cx="3337560" cy="4434840"/>
          </a:xfrm>
          <a:prstGeom prst="roundRect">
            <a:avLst/>
          </a:prstGeom>
          <a:solidFill>
            <a:srgbClr val="11223D"/>
          </a:solidFill>
          <a:ln w="10160">
            <a:solidFill>
              <a:srgbClr val="2636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21040" y="155448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38C9DB"/>
                </a:solidFill>
                <a:latin typeface="Aptos"/>
              </a:rPr>
              <a:t>READY FOR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58200" y="2286000"/>
            <a:ext cx="2011680" cy="347472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58200" y="2295144"/>
            <a:ext cx="2011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ALLOW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3108960"/>
            <a:ext cx="2011680" cy="34747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58200" y="3118103"/>
            <a:ext cx="2011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DENY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3931920"/>
            <a:ext cx="2011680" cy="347472"/>
          </a:xfrm>
          <a:prstGeom prst="roundRect">
            <a:avLst/>
          </a:prstGeom>
          <a:solidFill>
            <a:srgbClr val="E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0" y="3941063"/>
            <a:ext cx="20116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AFC"/>
                </a:solidFill>
                <a:latin typeface="Aptos"/>
              </a:rPr>
              <a:t>ESCALATE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983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906</Words>
  <Application>Microsoft Office PowerPoint</Application>
  <PresentationFormat>Widescreen</PresentationFormat>
  <Paragraphs>154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Palak Kansal</dc:creator>
  <cp:keywords/>
  <dc:description>generated using python-pptx</dc:description>
  <cp:lastModifiedBy>Palak Kansal</cp:lastModifiedBy>
  <cp:revision>3</cp:revision>
  <dcterms:created xsi:type="dcterms:W3CDTF">2013-01-27T09:14:16Z</dcterms:created>
  <dcterms:modified xsi:type="dcterms:W3CDTF">2026-09-17T14:36:14Z</dcterms:modified>
  <cp:category/>
</cp:coreProperties>
</file>